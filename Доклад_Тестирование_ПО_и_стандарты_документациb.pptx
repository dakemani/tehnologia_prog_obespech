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ртём Романович" userId="e984cf734315569e" providerId="LiveId" clId="{03702C5D-4C9C-4A44-84FC-D0D072532A48}"/>
    <pc:docChg chg="delSld">
      <pc:chgData name="Артём Романович" userId="e984cf734315569e" providerId="LiveId" clId="{03702C5D-4C9C-4A44-84FC-D0D072532A48}" dt="2026-10-11T13:30:35.595" v="0" actId="2696"/>
      <pc:docMkLst>
        <pc:docMk/>
      </pc:docMkLst>
      <pc:sldChg chg="del">
        <pc:chgData name="Артём Романович" userId="e984cf734315569e" providerId="LiveId" clId="{03702C5D-4C9C-4A44-84FC-D0D072532A48}" dt="2026-10-11T13:30:35.595" v="0" actId="2696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822960"/>
            <a:ext cx="2103120" cy="2103120"/>
          </a:xfrm>
          <a:prstGeom prst="ellipse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743200"/>
            <a:ext cx="1325880" cy="132588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114800"/>
            <a:ext cx="914400" cy="914400"/>
          </a:xfrm>
          <a:prstGeom prst="ellipse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21040" y="1600200"/>
            <a:ext cx="256032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8512" y="192024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9B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2029968"/>
            <a:ext cx="1051560" cy="109728"/>
          </a:xfrm>
          <a:prstGeom prst="roundRect">
            <a:avLst/>
          </a:prstGeom>
          <a:solidFill>
            <a:srgbClr val="CF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68512" y="267004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9B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779776"/>
            <a:ext cx="1051560" cy="109728"/>
          </a:xfrm>
          <a:prstGeom prst="roundRect">
            <a:avLst/>
          </a:prstGeom>
          <a:solidFill>
            <a:srgbClr val="CF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68512" y="341985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9B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529584"/>
            <a:ext cx="1051560" cy="109728"/>
          </a:xfrm>
          <a:prstGeom prst="roundRect">
            <a:avLst/>
          </a:prstGeom>
          <a:solidFill>
            <a:srgbClr val="CF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0972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ТЕСТИРОВАНИЕ</a:t>
            </a:r>
            <a:br/>
            <a:r>
              <a:t>ПРОГРАММНОГО ОБЕСПЕЧЕНИЯ</a:t>
            </a:r>
          </a:p>
          <a:p>
            <a:pPr>
              <a:spcAft>
                <a:spcPts val="2200"/>
              </a:spcAft>
              <a:defRPr sz="1900">
                <a:solidFill>
                  <a:srgbClr val="D0DCEC"/>
                </a:solidFill>
                <a:latin typeface="Aptos"/>
              </a:defRPr>
            </a:pPr>
            <a:r>
              <a:t>Цели, задачи, виды и стандарты качества программной документации</a:t>
            </a:r>
          </a:p>
          <a:p>
            <a:pPr>
              <a:defRPr sz="1300">
                <a:solidFill>
                  <a:srgbClr val="F2B543"/>
                </a:solidFill>
                <a:latin typeface="Aptos"/>
              </a:defRPr>
            </a:pPr>
            <a:r>
              <a:t>Доклад-презентация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Зачем нужно тестирование?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ВВЕДЕНИЕ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Программное обеспечение используется в самых разных сферах жизни.</a:t>
            </a:r>
          </a:p>
          <a:p>
            <a:pPr>
              <a:spcAft>
                <a:spcPts val="20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Даже небольшая ошибка может привести к сбою, потере данных или неудобству для пользователя.</a:t>
            </a:r>
          </a:p>
          <a:p>
            <a:pPr>
              <a:spcAft>
                <a:spcPts val="2000"/>
              </a:spcAft>
              <a:defRPr sz="2200">
                <a:solidFill>
                  <a:srgbClr val="26303E"/>
                </a:solidFill>
                <a:latin typeface="Aptos"/>
              </a:defRPr>
            </a:pPr>
            <a:r>
              <a:t>Тестирование помогает оценить качество программы до её выпуска и во время сопровождения.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82296" cy="91440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120640"/>
            <a:ext cx="9829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Главная мысль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Качество — это не только работающий код, но и проверенный продукт с понятной документацией.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Цели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82296" cy="15087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Выявление дефектов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Найти ошибки до того, как они повлияют на пользователя.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82296" cy="150876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Проверка требований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Убедиться, что программа выполняет заявленные функции.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82296" cy="150876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Снижение рисков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Сократить вероятность сбоев, потери данных и проблем безопасности.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429000"/>
            <a:ext cx="82296" cy="15087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800600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Оценка качества</a:t>
            </a:r>
          </a:p>
          <a:p>
            <a:pPr>
              <a:spcAft>
                <a:spcPts val="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Получить данные о надёжности, производительности и удобстве.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Основные задачи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8943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rPr dirty="0" err="1"/>
              <a:t>Тестирование</a:t>
            </a:r>
            <a:r>
              <a:rPr dirty="0"/>
              <a:t> ПО •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программной</a:t>
            </a:r>
            <a:r>
              <a:rPr dirty="0"/>
              <a:t> </a:t>
            </a:r>
            <a:r>
              <a:rPr dirty="0" err="1"/>
              <a:t>документации</a:t>
            </a:r>
            <a:endParaRPr dirty="0"/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82296" cy="1170432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91639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1. Изучить требования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Понять, как программа должна работать.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82296" cy="1170432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691639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2. Подготовить проверки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Создать тестовые сценарии и данные.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990088"/>
            <a:ext cx="82296" cy="1170432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72968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3. Выполнить тесты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Проверить функции и взаимодействие компонентов.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99008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990088"/>
            <a:ext cx="82296" cy="1170432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172968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4. Зарегистрировать дефекты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Описать шаги воспроизведения и ожидаемый результат.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7141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471416"/>
            <a:ext cx="82296" cy="1170432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54296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5. Проверить исправления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Повторно протестировать исправленный участок.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47141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4471416"/>
            <a:ext cx="82296" cy="1170432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4654296"/>
            <a:ext cx="4800600" cy="896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6. Подвести итоги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Подготовить отчёт о результатах и рисках.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Виды тестирования по цели 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82296" cy="34747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8006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243E"/>
                </a:solidFill>
                <a:latin typeface="Aptos Display"/>
              </a:defRPr>
            </a:pPr>
            <a:r>
              <a:t>Функциональное</a:t>
            </a:r>
          </a:p>
          <a:p>
            <a:pPr>
              <a:spcAft>
                <a:spcPts val="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Проверяет, ЧТО делает программа.</a:t>
            </a:r>
            <a:br/>
            <a:r>
              <a:t/>
            </a:r>
            <a:br/>
            <a:r>
              <a:t>Пример: правильный логин и пароль открывают доступ к аккаунту.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82296" cy="347472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006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243E"/>
                </a:solidFill>
                <a:latin typeface="Aptos Display"/>
              </a:defRPr>
            </a:pPr>
            <a:r>
              <a:t>Нефункциональное</a:t>
            </a:r>
          </a:p>
          <a:p>
            <a:pPr>
              <a:spcAft>
                <a:spcPts val="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Проверяет, КАК программа работает.</a:t>
            </a:r>
            <a:br/>
            <a:r>
              <a:t/>
            </a:r>
            <a:br/>
            <a:r>
              <a:t>Примеры: скорость, безопасность, удобство и совместимость.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394960"/>
            <a:ext cx="987552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5394960"/>
            <a:ext cx="82296" cy="658368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94640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Также важно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Регрессионное тестирование проверяет, не сломали ли изменения старые функции.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Другие важные виды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82296" cy="16459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Производительности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Измеряет скорость и устойчивость под нагрузкой.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82296" cy="164592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Безопасности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Ищет уязвимости и риски несанкционированного доступа.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82296" cy="164592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7373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Удобства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Проверяет понятность интерфейса и действий пользователя.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82296" cy="16002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749039"/>
            <a:ext cx="480060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Повторное тестирование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Проверяет, что конкретный найденный дефект исправлен.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82296" cy="16002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39"/>
            <a:ext cx="480060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Регрессионное тестирование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Проверяет, что изменения не нарушили прежние функции.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Уровни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82296" cy="25603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Модульное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Отдельная функция или компонент</a:t>
            </a:r>
          </a:p>
        </p:txBody>
      </p:sp>
      <p:sp>
        <p:nvSpPr>
          <p:cNvPr id="10" name="Oval 9"/>
          <p:cNvSpPr/>
          <p:nvPr/>
        </p:nvSpPr>
        <p:spPr>
          <a:xfrm>
            <a:off x="1645919" y="1353312"/>
            <a:ext cx="822960" cy="82296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19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30168" y="1920240"/>
            <a:ext cx="82296" cy="256032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58768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Интеграционное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Связи между компонентами</a:t>
            </a:r>
          </a:p>
        </p:txBody>
      </p:sp>
      <p:sp>
        <p:nvSpPr>
          <p:cNvPr id="15" name="Oval 14"/>
          <p:cNvSpPr/>
          <p:nvPr/>
        </p:nvSpPr>
        <p:spPr>
          <a:xfrm>
            <a:off x="4498848" y="1353312"/>
            <a:ext cx="822960" cy="822960"/>
          </a:xfrm>
          <a:prstGeom prst="ellipse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83096" y="1920240"/>
            <a:ext cx="82296" cy="256032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11696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Системное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Продукт целиком</a:t>
            </a:r>
          </a:p>
        </p:txBody>
      </p:sp>
      <p:sp>
        <p:nvSpPr>
          <p:cNvPr id="20" name="Oval 19"/>
          <p:cNvSpPr/>
          <p:nvPr/>
        </p:nvSpPr>
        <p:spPr>
          <a:xfrm>
            <a:off x="7351775" y="1353312"/>
            <a:ext cx="822960" cy="822960"/>
          </a:xfrm>
          <a:prstGeom prst="ellipse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51775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36024" y="1920240"/>
            <a:ext cx="82296" cy="25603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64624" y="2103120"/>
            <a:ext cx="2148839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43E"/>
                </a:solidFill>
                <a:latin typeface="Aptos Display"/>
              </a:defRPr>
            </a:pPr>
            <a:r>
              <a:t>Приёмочное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Соответствие ожиданиям заказчика</a:t>
            </a:r>
          </a:p>
        </p:txBody>
      </p:sp>
      <p:sp>
        <p:nvSpPr>
          <p:cNvPr id="25" name="Oval 24"/>
          <p:cNvSpPr/>
          <p:nvPr/>
        </p:nvSpPr>
        <p:spPr>
          <a:xfrm>
            <a:off x="10204703" y="1353312"/>
            <a:ext cx="822960" cy="82296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04703" y="147218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4983480"/>
            <a:ext cx="9692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34440" y="4983480"/>
            <a:ext cx="82296" cy="82296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63040" y="5166360"/>
            <a:ext cx="92811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По способу выполнения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Ручное тестирование выполняет специалист; автоматизированное — тестовые скрипты и инструменты.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Стандарты качества 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C7C"/>
                </a:solidFill>
                <a:latin typeface="Aptos"/>
              </a:defRPr>
            </a:pPr>
            <a:r>
              <a:t>Тестирование ПО • Качество программной документации</a:t>
            </a:r>
          </a:p>
          <a:p>
            <a:pPr algn="r">
              <a:defRPr sz="800">
                <a:solidFill>
                  <a:srgbClr val="606C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82296" cy="18288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48006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ГОСТ Р 56920-2024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Общие положения тестирования программного обеспечения: цели, принципы, планирование и документирование проверок.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82296" cy="18288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8006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43E"/>
                </a:solidFill>
                <a:latin typeface="Aptos Display"/>
              </a:defRPr>
            </a:pPr>
            <a:r>
              <a:t>Серия ISO/IEC 25000 (SQuaRE)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Подходы к требованиям, измерению и оценке качества программных продуктов.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241280" cy="164592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Стандарты помогают унифицировать процессы и критерии оценки.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Они не заменяют тестирование, а задают понятные правила его организации.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Ключевые характеристики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Функциональность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Выполняет нужные функции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600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Производительность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Работает эффективно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560320"/>
            <a:ext cx="82296" cy="9144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Совместимость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Взаимодействует с другими системами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560320"/>
            <a:ext cx="82296" cy="91440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2743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Удобство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Понятна пользователю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703320"/>
            <a:ext cx="82296" cy="91440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Надёжность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Стабильна в заданных условиях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3703320"/>
            <a:ext cx="82296" cy="91440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3886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Безопасность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Защищает данные и доступ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46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46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Сопровождаемость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Удобна для исправления и развития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846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59" y="4846320"/>
            <a:ext cx="82296" cy="914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5029200"/>
            <a:ext cx="48006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243E"/>
                </a:solidFill>
                <a:latin typeface="Aptos Display"/>
              </a:defRPr>
            </a:pPr>
            <a:r>
              <a:t>Переносимость</a:t>
            </a:r>
          </a:p>
          <a:p>
            <a:pPr>
              <a:spcAft>
                <a:spcPts val="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Адаптируется к разным средам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Стандарты программной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112515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9601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1024128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rPr dirty="0"/>
              <a:t>ЕСПД</a:t>
            </a:r>
          </a:p>
          <a:p>
            <a:pPr>
              <a:spcAft>
                <a:spcPts val="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rPr dirty="0" err="1"/>
              <a:t>Единая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программной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dirty="0"/>
              <a:t> — </a:t>
            </a:r>
            <a:r>
              <a:rPr dirty="0" err="1"/>
              <a:t>комплекс</a:t>
            </a:r>
            <a:r>
              <a:rPr dirty="0"/>
              <a:t> </a:t>
            </a:r>
            <a:r>
              <a:rPr dirty="0" err="1"/>
              <a:t>стандартов</a:t>
            </a:r>
            <a:r>
              <a:rPr dirty="0"/>
              <a:t>, </a:t>
            </a:r>
            <a:r>
              <a:rPr dirty="0" err="1"/>
              <a:t>регулирующих</a:t>
            </a:r>
            <a:r>
              <a:rPr dirty="0"/>
              <a:t> </a:t>
            </a:r>
            <a:r>
              <a:rPr dirty="0" err="1"/>
              <a:t>состав</a:t>
            </a:r>
            <a:r>
              <a:rPr dirty="0"/>
              <a:t>, </a:t>
            </a:r>
            <a:r>
              <a:rPr dirty="0" err="1"/>
              <a:t>оформление</a:t>
            </a:r>
            <a:r>
              <a:rPr dirty="0"/>
              <a:t> и </a:t>
            </a:r>
            <a:r>
              <a:rPr dirty="0" err="1"/>
              <a:t>содержание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19.101-77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5176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Виды программ и программных документов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19.102-77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73552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Стадии разработки программ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95344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19.103-77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895344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Обозначение программ и документов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171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19.105-78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517136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Общие требования к программным документам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43E"/>
                </a:solidFill>
                <a:latin typeface="Aptos"/>
              </a:defRPr>
            </a:pPr>
            <a:r>
              <a:t>ГОСТ 19.201-78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138928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t>Требования к техническому заданию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Признаки качественной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РАЗДЕЛ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82296" cy="155448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Полнота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Есть вся необходимая информация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7373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98848" y="1737360"/>
            <a:ext cx="82296" cy="155448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2024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Точность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Описание соответствует программе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6" y="173736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66176" y="1737360"/>
            <a:ext cx="82296" cy="155448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4776" y="192024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Понятность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Формулировки ясны и однозначны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82296" cy="155448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Согласованность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Документы не противоречат друг другу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98848" y="3703320"/>
            <a:ext cx="82296" cy="1554480"/>
          </a:xfrm>
          <a:prstGeom prst="rect">
            <a:avLst/>
          </a:prstGeom>
          <a:solidFill>
            <a:srgbClr val="30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7448" y="388620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Актуальность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Сведения обновляются после изменений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6" y="370332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66176" y="3703320"/>
            <a:ext cx="82296" cy="155448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94776" y="3886200"/>
            <a:ext cx="3063239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43E"/>
                </a:solidFill>
                <a:latin typeface="Aptos Display"/>
              </a:defRPr>
            </a:pPr>
            <a:r>
              <a:t>Структура</a:t>
            </a:r>
          </a:p>
          <a:p>
            <a:pPr>
              <a:spcAft>
                <a:spcPts val="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Информацию легко найти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577840"/>
            <a:ext cx="996696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7280" y="5577840"/>
            <a:ext cx="82296" cy="50292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5669280"/>
            <a:ext cx="9555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243E"/>
                </a:solidFill>
                <a:latin typeface="Aptos Display"/>
              </a:defRPr>
            </a:pPr>
            <a:r>
              <a:rPr dirty="0" err="1"/>
              <a:t>Документацию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тестируют</a:t>
            </a:r>
            <a:endParaRPr dirty="0"/>
          </a:p>
          <a:p>
            <a:pPr>
              <a:spcAft>
                <a:spcPts val="0"/>
              </a:spcAft>
              <a:defRPr sz="1000">
                <a:solidFill>
                  <a:srgbClr val="26303E"/>
                </a:solidFill>
                <a:latin typeface="Aptos"/>
              </a:defRPr>
            </a:pPr>
            <a:r>
              <a:rPr dirty="0" err="1"/>
              <a:t>Ищут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, </a:t>
            </a:r>
            <a:r>
              <a:rPr dirty="0" err="1"/>
              <a:t>пропущенные</a:t>
            </a:r>
            <a:r>
              <a:rPr dirty="0"/>
              <a:t> </a:t>
            </a:r>
            <a:r>
              <a:rPr dirty="0" err="1"/>
              <a:t>шаги</a:t>
            </a:r>
            <a:r>
              <a:rPr dirty="0"/>
              <a:t>, </a:t>
            </a:r>
            <a:r>
              <a:rPr dirty="0" err="1"/>
              <a:t>устаревшие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и </a:t>
            </a:r>
            <a:r>
              <a:rPr dirty="0" err="1"/>
              <a:t>расхождения</a:t>
            </a:r>
            <a:r>
              <a:rPr dirty="0"/>
              <a:t> с </a:t>
            </a:r>
            <a:r>
              <a:rPr dirty="0" err="1"/>
              <a:t>программой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43E"/>
                </a:solidFill>
                <a:latin typeface="Aptos Display"/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B91"/>
                </a:solidFill>
                <a:latin typeface="Aptos"/>
              </a:defRPr>
            </a:pPr>
            <a: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tIns="54864" rIns="73152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Тестирование помогает находить дефекты и оценивать соответствие требованиям.</a:t>
            </a:r>
          </a:p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Разные виды и уровни проверок дополняют друг друга.</a:t>
            </a:r>
          </a:p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Стандарты задают единые правила контроля качества и оформления документации.</a:t>
            </a:r>
          </a:p>
          <a:p>
            <a:pPr>
              <a:spcAft>
                <a:spcPts val="1700"/>
              </a:spcAft>
              <a:defRPr sz="2100">
                <a:solidFill>
                  <a:srgbClr val="26303E"/>
                </a:solidFill>
                <a:latin typeface="Aptos"/>
              </a:defRPr>
            </a:pPr>
            <a:r>
              <a:t>Надёжный продукт — это проверенный код и точные, актуальные документы.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57800"/>
            <a:ext cx="100584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5257800"/>
            <a:ext cx="82296" cy="731520"/>
          </a:xfrm>
          <a:prstGeom prst="rect">
            <a:avLst/>
          </a:prstGeom>
          <a:solidFill>
            <a:srgbClr val="F2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4148" y="5394960"/>
            <a:ext cx="96469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43E"/>
                </a:solidFill>
                <a:latin typeface="Aptos Display"/>
              </a:defRPr>
            </a:pPr>
            <a:r>
              <a:t>Главный вывод</a:t>
            </a:r>
          </a:p>
          <a:p>
            <a:pPr>
              <a:spcAft>
                <a:spcPts val="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Качество создаётся на всех этапах разработки, а не только перед выпуском программы.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587</Words>
  <Application>Microsoft Office PowerPoint</Application>
  <PresentationFormat>Широкоэкранный</PresentationFormat>
  <Paragraphs>142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Романович Артём Русланович</dc:creator>
  <cp:keywords/>
  <dc:description>generated using python-pptx</dc:description>
  <cp:lastModifiedBy>Романович Артём Русланович</cp:lastModifiedBy>
  <cp:revision>3</cp:revision>
  <dcterms:created xsi:type="dcterms:W3CDTF">2013-01-27T09:14:16Z</dcterms:created>
  <dcterms:modified xsi:type="dcterms:W3CDTF">2026-10-12T09:48:52Z</dcterms:modified>
  <cp:category/>
</cp:coreProperties>
</file>