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2316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Артём Романович" userId="e984cf734315569e" providerId="LiveId" clId="{03702C5D-4C9C-4A44-84FC-D0D072532A48}"/>
    <pc:docChg chg="delSld">
      <pc:chgData name="Артём Романович" userId="e984cf734315569e" providerId="LiveId" clId="{03702C5D-4C9C-4A44-84FC-D0D072532A48}" dt="2026-10-11T13:30:35.595" v="0" actId="2696"/>
      <pc:docMkLst>
        <pc:docMk/>
      </pc:docMkLst>
      <pc:sldChg chg="del">
        <pc:chgData name="Артём Романович" userId="e984cf734315569e" providerId="LiveId" clId="{03702C5D-4C9C-4A44-84FC-D0D072532A48}" dt="2026-10-11T13:30:35.595" v="0" actId="2696"/>
        <pc:sldMkLst>
          <pc:docMk/>
          <pc:sldMk cId="0" sldId="26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4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869680" y="822960"/>
            <a:ext cx="2103120" cy="2103120"/>
          </a:xfrm>
          <a:prstGeom prst="ellipse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84080" y="2743200"/>
            <a:ext cx="1325880" cy="1325880"/>
          </a:xfrm>
          <a:prstGeom prst="ellipse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955279" y="4114800"/>
            <a:ext cx="914400" cy="914400"/>
          </a:xfrm>
          <a:prstGeom prst="ellipse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321040" y="1600200"/>
            <a:ext cx="2560320" cy="2971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68512" y="192024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9B91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2029968"/>
            <a:ext cx="1051560" cy="109728"/>
          </a:xfrm>
          <a:prstGeom prst="roundRect">
            <a:avLst/>
          </a:prstGeom>
          <a:solidFill>
            <a:srgbClr val="CF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68512" y="267004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9B91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81160" y="2779776"/>
            <a:ext cx="1051560" cy="109728"/>
          </a:xfrm>
          <a:prstGeom prst="roundRect">
            <a:avLst/>
          </a:prstGeom>
          <a:solidFill>
            <a:srgbClr val="CF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68512" y="3419856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9B91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1160" y="3529584"/>
            <a:ext cx="1051560" cy="109728"/>
          </a:xfrm>
          <a:prstGeom prst="roundRect">
            <a:avLst/>
          </a:prstGeom>
          <a:solidFill>
            <a:srgbClr val="CF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097280"/>
            <a:ext cx="7132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ТЕСТИРОВАНИЕ</a:t>
            </a:r>
            <a:br/>
            <a:r>
              <a:t>ПРОГРАММНОГО ОБЕСПЕЧЕНИЯ</a:t>
            </a:r>
          </a:p>
          <a:p>
            <a:pPr>
              <a:spcAft>
                <a:spcPts val="2200"/>
              </a:spcAft>
              <a:defRPr sz="1900">
                <a:solidFill>
                  <a:srgbClr val="D0DCEC"/>
                </a:solidFill>
                <a:latin typeface="Aptos"/>
              </a:defRPr>
            </a:pPr>
            <a:r>
              <a:t>Цели, задачи, виды и стандарты качества программной документации</a:t>
            </a:r>
          </a:p>
          <a:p>
            <a:pPr>
              <a:defRPr sz="1300">
                <a:solidFill>
                  <a:srgbClr val="F2B543"/>
                </a:solidFill>
                <a:latin typeface="Aptos"/>
              </a:defRPr>
            </a:pPr>
            <a:r>
              <a:t>Доклад-презентация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715000"/>
            <a:ext cx="7040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D0DCEC"/>
                </a:solidFill>
                <a:latin typeface="Aptos"/>
              </a:defRPr>
            </a:pPr>
            <a:r>
              <a:t>Выполнил(а): ____________________     Группа: 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Зачем нужно тестирование?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ВВЕДЕНИЕ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10607040" cy="4480560"/>
          </a:xfrm>
          <a:prstGeom prst="rect">
            <a:avLst/>
          </a:prstGeom>
          <a:noFill/>
        </p:spPr>
        <p:txBody>
          <a:bodyPr wrap="square" lIns="73152" tIns="54864" rIns="73152">
            <a:spAutoFit/>
          </a:bodyPr>
          <a:lstStyle/>
          <a:p>
            <a:pPr>
              <a:spcAft>
                <a:spcPts val="2000"/>
              </a:spcAft>
              <a:defRPr sz="2200">
                <a:solidFill>
                  <a:srgbClr val="26303E"/>
                </a:solidFill>
                <a:latin typeface="Aptos"/>
              </a:defRPr>
            </a:pPr>
            <a:r>
              <a:t>Программное обеспечение используется в самых разных сферах жизни.</a:t>
            </a:r>
          </a:p>
          <a:p>
            <a:pPr>
              <a:spcAft>
                <a:spcPts val="2000"/>
              </a:spcAft>
              <a:defRPr sz="2200">
                <a:solidFill>
                  <a:srgbClr val="26303E"/>
                </a:solidFill>
                <a:latin typeface="Aptos"/>
              </a:defRPr>
            </a:pPr>
            <a:r>
              <a:t>Даже небольшая ошибка может привести к сбою, потере данных или неудобству для пользователя.</a:t>
            </a:r>
          </a:p>
          <a:p>
            <a:pPr>
              <a:spcAft>
                <a:spcPts val="2000"/>
              </a:spcAft>
              <a:defRPr sz="2200">
                <a:solidFill>
                  <a:srgbClr val="26303E"/>
                </a:solidFill>
                <a:latin typeface="Aptos"/>
              </a:defRPr>
            </a:pPr>
            <a:r>
              <a:t>Тестирование помогает оценить качество программы до её выпуска и во время сопровождения.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937760"/>
            <a:ext cx="102412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14400" y="4937760"/>
            <a:ext cx="82296" cy="914400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5120640"/>
            <a:ext cx="98298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6243E"/>
                </a:solidFill>
                <a:latin typeface="Aptos Display"/>
              </a:defRPr>
            </a:pPr>
            <a:r>
              <a:t>Главная мысль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Качество — это не только работающий код, но и проверенный продукт с понятной документацией.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Цели тестирования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РАЗДЕЛ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2120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00200"/>
            <a:ext cx="82296" cy="150876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4800600" cy="12344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6243E"/>
                </a:solidFill>
                <a:latin typeface="Aptos Display"/>
              </a:defRPr>
            </a:pPr>
            <a:r>
              <a:t>Выявление дефектов</a:t>
            </a:r>
          </a:p>
          <a:p>
            <a:pPr>
              <a:spcAft>
                <a:spcPts val="0"/>
              </a:spcAft>
              <a:defRPr sz="1500">
                <a:solidFill>
                  <a:srgbClr val="26303E"/>
                </a:solidFill>
                <a:latin typeface="Aptos"/>
              </a:defRPr>
            </a:pPr>
            <a:r>
              <a:t>Найти ошибки до того, как они повлияют на пользователя.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00200"/>
            <a:ext cx="52120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00200"/>
            <a:ext cx="82296" cy="1508760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4800600" cy="12344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6243E"/>
                </a:solidFill>
                <a:latin typeface="Aptos Display"/>
              </a:defRPr>
            </a:pPr>
            <a:r>
              <a:t>Проверка требований</a:t>
            </a:r>
          </a:p>
          <a:p>
            <a:pPr>
              <a:spcAft>
                <a:spcPts val="0"/>
              </a:spcAft>
              <a:defRPr sz="1500">
                <a:solidFill>
                  <a:srgbClr val="26303E"/>
                </a:solidFill>
                <a:latin typeface="Aptos"/>
              </a:defRPr>
            </a:pPr>
            <a:r>
              <a:t>Убедиться, что программа выполняет заявленные функции.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29000"/>
            <a:ext cx="52120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1520" y="3429000"/>
            <a:ext cx="82296" cy="1508760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611880"/>
            <a:ext cx="4800600" cy="12344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6243E"/>
                </a:solidFill>
                <a:latin typeface="Aptos Display"/>
              </a:defRPr>
            </a:pPr>
            <a:r>
              <a:t>Снижение рисков</a:t>
            </a:r>
          </a:p>
          <a:p>
            <a:pPr>
              <a:spcAft>
                <a:spcPts val="0"/>
              </a:spcAft>
              <a:defRPr sz="1500">
                <a:solidFill>
                  <a:srgbClr val="26303E"/>
                </a:solidFill>
                <a:latin typeface="Aptos"/>
              </a:defRPr>
            </a:pPr>
            <a:r>
              <a:t>Сократить вероятность сбоев, потери данных и проблем безопасности.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2120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429000"/>
            <a:ext cx="82296" cy="150876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800600" cy="12344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6243E"/>
                </a:solidFill>
                <a:latin typeface="Aptos Display"/>
              </a:defRPr>
            </a:pPr>
            <a:r>
              <a:t>Оценка качества</a:t>
            </a:r>
          </a:p>
          <a:p>
            <a:pPr>
              <a:spcAft>
                <a:spcPts val="0"/>
              </a:spcAft>
              <a:defRPr sz="1500">
                <a:solidFill>
                  <a:srgbClr val="26303E"/>
                </a:solidFill>
                <a:latin typeface="Aptos"/>
              </a:defRPr>
            </a:pPr>
            <a:r>
              <a:t>Получить данные о надёжности, производительности и удобстве.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Основные задачи тестирования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РАЗДЕЛ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08760"/>
            <a:ext cx="521208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508760"/>
            <a:ext cx="82296" cy="1170432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691639"/>
            <a:ext cx="4800600" cy="8961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243E"/>
                </a:solidFill>
                <a:latin typeface="Aptos Display"/>
              </a:defRPr>
            </a:pPr>
            <a:r>
              <a:t>1. Изучить требования</a:t>
            </a:r>
          </a:p>
          <a:p>
            <a:pPr>
              <a:spcAft>
                <a:spcPts val="0"/>
              </a:spcAft>
              <a:defRPr sz="1200">
                <a:solidFill>
                  <a:srgbClr val="26303E"/>
                </a:solidFill>
                <a:latin typeface="Aptos"/>
              </a:defRPr>
            </a:pPr>
            <a:r>
              <a:t>Понять, как программа должна работать.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508760"/>
            <a:ext cx="521208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59" y="1508760"/>
            <a:ext cx="82296" cy="1170432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59" y="1691639"/>
            <a:ext cx="4800600" cy="8961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243E"/>
                </a:solidFill>
                <a:latin typeface="Aptos Display"/>
              </a:defRPr>
            </a:pPr>
            <a:r>
              <a:t>2. Подготовить проверки</a:t>
            </a:r>
          </a:p>
          <a:p>
            <a:pPr>
              <a:spcAft>
                <a:spcPts val="0"/>
              </a:spcAft>
              <a:defRPr sz="1200">
                <a:solidFill>
                  <a:srgbClr val="26303E"/>
                </a:solidFill>
                <a:latin typeface="Aptos"/>
              </a:defRPr>
            </a:pPr>
            <a:r>
              <a:t>Создать тестовые сценарии и данные.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90088"/>
            <a:ext cx="521208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2990088"/>
            <a:ext cx="82296" cy="1170432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172968"/>
            <a:ext cx="4800600" cy="8961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243E"/>
                </a:solidFill>
                <a:latin typeface="Aptos Display"/>
              </a:defRPr>
            </a:pPr>
            <a:r>
              <a:t>3. Выполнить тесты</a:t>
            </a:r>
          </a:p>
          <a:p>
            <a:pPr>
              <a:spcAft>
                <a:spcPts val="0"/>
              </a:spcAft>
              <a:defRPr sz="1200">
                <a:solidFill>
                  <a:srgbClr val="26303E"/>
                </a:solidFill>
                <a:latin typeface="Aptos"/>
              </a:defRPr>
            </a:pPr>
            <a:r>
              <a:t>Проверить функции и взаимодействие компонентов.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2990088"/>
            <a:ext cx="521208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59" y="2990088"/>
            <a:ext cx="82296" cy="1170432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59" y="3172968"/>
            <a:ext cx="4800600" cy="8961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243E"/>
                </a:solidFill>
                <a:latin typeface="Aptos Display"/>
              </a:defRPr>
            </a:pPr>
            <a:r>
              <a:t>4. Зарегистрировать дефекты</a:t>
            </a:r>
          </a:p>
          <a:p>
            <a:pPr>
              <a:spcAft>
                <a:spcPts val="0"/>
              </a:spcAft>
              <a:defRPr sz="1200">
                <a:solidFill>
                  <a:srgbClr val="26303E"/>
                </a:solidFill>
                <a:latin typeface="Aptos"/>
              </a:defRPr>
            </a:pPr>
            <a:r>
              <a:t>Описать шаги воспроизведения и ожидаемый результат.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71416"/>
            <a:ext cx="521208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4471416"/>
            <a:ext cx="82296" cy="1170432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654296"/>
            <a:ext cx="4800600" cy="8961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243E"/>
                </a:solidFill>
                <a:latin typeface="Aptos Display"/>
              </a:defRPr>
            </a:pPr>
            <a:r>
              <a:t>5. Проверить исправления</a:t>
            </a:r>
          </a:p>
          <a:p>
            <a:pPr>
              <a:spcAft>
                <a:spcPts val="0"/>
              </a:spcAft>
              <a:defRPr sz="1200">
                <a:solidFill>
                  <a:srgbClr val="26303E"/>
                </a:solidFill>
                <a:latin typeface="Aptos"/>
              </a:defRPr>
            </a:pPr>
            <a:r>
              <a:t>Повторно протестировать исправленный участок.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59" y="4471416"/>
            <a:ext cx="521208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59" y="4471416"/>
            <a:ext cx="82296" cy="1170432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4654296"/>
            <a:ext cx="4800600" cy="8961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243E"/>
                </a:solidFill>
                <a:latin typeface="Aptos Display"/>
              </a:defRPr>
            </a:pPr>
            <a:r>
              <a:t>6. Подвести итоги</a:t>
            </a:r>
          </a:p>
          <a:p>
            <a:pPr>
              <a:spcAft>
                <a:spcPts val="0"/>
              </a:spcAft>
              <a:defRPr sz="1200">
                <a:solidFill>
                  <a:srgbClr val="26303E"/>
                </a:solidFill>
                <a:latin typeface="Aptos"/>
              </a:defRPr>
            </a:pPr>
            <a:r>
              <a:t>Подготовить отчёт о результатах и рисках.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Виды тестирования по цели проверки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РАЗДЕЛ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5212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645920"/>
            <a:ext cx="82296" cy="347472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8006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243E"/>
                </a:solidFill>
                <a:latin typeface="Aptos Display"/>
              </a:defRPr>
            </a:pPr>
            <a:r>
              <a:t>Функциональное</a:t>
            </a:r>
          </a:p>
          <a:p>
            <a:pPr>
              <a:spcAft>
                <a:spcPts val="0"/>
              </a:spcAft>
              <a:defRPr sz="1700">
                <a:solidFill>
                  <a:srgbClr val="26303E"/>
                </a:solidFill>
                <a:latin typeface="Aptos"/>
              </a:defRPr>
            </a:pPr>
            <a:r>
              <a:t>Проверяет, ЧТО делает программа.</a:t>
            </a:r>
            <a:br/>
            <a:br/>
            <a:r>
              <a:t>Пример: правильный логин и пароль открывают доступ к аккаунту.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82296" cy="3474720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48006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243E"/>
                </a:solidFill>
                <a:latin typeface="Aptos Display"/>
              </a:defRPr>
            </a:pPr>
            <a:r>
              <a:t>Нефункциональное</a:t>
            </a:r>
          </a:p>
          <a:p>
            <a:pPr>
              <a:spcAft>
                <a:spcPts val="0"/>
              </a:spcAft>
              <a:defRPr sz="1700">
                <a:solidFill>
                  <a:srgbClr val="26303E"/>
                </a:solidFill>
                <a:latin typeface="Aptos"/>
              </a:defRPr>
            </a:pPr>
            <a:r>
              <a:t>Проверяет, КАК программа работает.</a:t>
            </a:r>
            <a:br/>
            <a:br/>
            <a:r>
              <a:t>Примеры: скорость, безопасность, удобство и совместимость.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394960"/>
            <a:ext cx="98755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43000" y="5394960"/>
            <a:ext cx="82296" cy="658368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71600" y="5577840"/>
            <a:ext cx="94640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243E"/>
                </a:solidFill>
                <a:latin typeface="Aptos Display"/>
              </a:defRPr>
            </a:pPr>
            <a:r>
              <a:t>Также важно</a:t>
            </a:r>
          </a:p>
          <a:p>
            <a:pPr>
              <a:spcAft>
                <a:spcPts val="0"/>
              </a:spcAft>
              <a:defRPr sz="1200">
                <a:solidFill>
                  <a:srgbClr val="26303E"/>
                </a:solidFill>
                <a:latin typeface="Aptos"/>
              </a:defRPr>
            </a:pPr>
            <a:r>
              <a:t>Регрессионное тестирование проверяет, не сломали ли изменения старые функции.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Другие важные виды тестирования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РАЗДЕЛ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5204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82296" cy="164592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737360"/>
            <a:ext cx="310896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6243E"/>
                </a:solidFill>
                <a:latin typeface="Aptos Display"/>
              </a:defRPr>
            </a:pPr>
            <a:r>
              <a:t>Производительности</a:t>
            </a:r>
          </a:p>
          <a:p>
            <a:pPr>
              <a:spcAft>
                <a:spcPts val="0"/>
              </a:spcAft>
              <a:defRPr sz="1300">
                <a:solidFill>
                  <a:srgbClr val="26303E"/>
                </a:solidFill>
                <a:latin typeface="Aptos"/>
              </a:defRPr>
            </a:pPr>
            <a:r>
              <a:t>Измеряет скорость и устойчивость под нагрузкой.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54480"/>
            <a:ext cx="35204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554480"/>
            <a:ext cx="82296" cy="1645920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737360"/>
            <a:ext cx="310896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6243E"/>
                </a:solidFill>
                <a:latin typeface="Aptos Display"/>
              </a:defRPr>
            </a:pPr>
            <a:r>
              <a:t>Безопасности</a:t>
            </a:r>
          </a:p>
          <a:p>
            <a:pPr>
              <a:spcAft>
                <a:spcPts val="0"/>
              </a:spcAft>
              <a:defRPr sz="1300">
                <a:solidFill>
                  <a:srgbClr val="26303E"/>
                </a:solidFill>
                <a:latin typeface="Aptos"/>
              </a:defRPr>
            </a:pPr>
            <a:r>
              <a:t>Ищет уязвимости и риски несанкционированного доступа.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554480"/>
            <a:ext cx="35204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1554480"/>
            <a:ext cx="82296" cy="1645920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1737360"/>
            <a:ext cx="310896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6243E"/>
                </a:solidFill>
                <a:latin typeface="Aptos Display"/>
              </a:defRPr>
            </a:pPr>
            <a:r>
              <a:t>Удобства</a:t>
            </a:r>
          </a:p>
          <a:p>
            <a:pPr>
              <a:spcAft>
                <a:spcPts val="0"/>
              </a:spcAft>
              <a:defRPr sz="1300">
                <a:solidFill>
                  <a:srgbClr val="26303E"/>
                </a:solidFill>
                <a:latin typeface="Aptos"/>
              </a:defRPr>
            </a:pPr>
            <a:r>
              <a:t>Проверяет понятность интерфейса и действий пользователя.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56616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566160"/>
            <a:ext cx="82296" cy="1600200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749039"/>
            <a:ext cx="4800600" cy="1325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6243E"/>
                </a:solidFill>
                <a:latin typeface="Aptos Display"/>
              </a:defRPr>
            </a:pPr>
            <a:r>
              <a:t>Повторное тестирование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Проверяет, что конкретный найденный дефект исправлен.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56616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3566160"/>
            <a:ext cx="82296" cy="160020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3749039"/>
            <a:ext cx="4800600" cy="1325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6243E"/>
                </a:solidFill>
                <a:latin typeface="Aptos Display"/>
              </a:defRPr>
            </a:pPr>
            <a:r>
              <a:t>Регрессионное тестирование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Проверяет, что изменения не нарушили прежние функции.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Уровни тестирования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РАЗДЕЛ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256032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82296" cy="256032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2148839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6243E"/>
                </a:solidFill>
                <a:latin typeface="Aptos Display"/>
              </a:defRPr>
            </a:pPr>
            <a:r>
              <a:t>Модульное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Отдельная функция или компонент</a:t>
            </a:r>
          </a:p>
        </p:txBody>
      </p:sp>
      <p:sp>
        <p:nvSpPr>
          <p:cNvPr id="10" name="Oval 9"/>
          <p:cNvSpPr/>
          <p:nvPr/>
        </p:nvSpPr>
        <p:spPr>
          <a:xfrm>
            <a:off x="1645919" y="1353312"/>
            <a:ext cx="822960" cy="822960"/>
          </a:xfrm>
          <a:prstGeom prst="ellipse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45919" y="1472184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30168" y="1920240"/>
            <a:ext cx="256032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30168" y="1920240"/>
            <a:ext cx="82296" cy="2560320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58768" y="2103120"/>
            <a:ext cx="2148839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6243E"/>
                </a:solidFill>
                <a:latin typeface="Aptos Display"/>
              </a:defRPr>
            </a:pPr>
            <a:r>
              <a:t>Интеграционное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Связи между компонентами</a:t>
            </a:r>
          </a:p>
        </p:txBody>
      </p:sp>
      <p:sp>
        <p:nvSpPr>
          <p:cNvPr id="15" name="Oval 14"/>
          <p:cNvSpPr/>
          <p:nvPr/>
        </p:nvSpPr>
        <p:spPr>
          <a:xfrm>
            <a:off x="4498848" y="1353312"/>
            <a:ext cx="822960" cy="822960"/>
          </a:xfrm>
          <a:prstGeom prst="ellipse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98848" y="1472184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83096" y="1920240"/>
            <a:ext cx="256032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83096" y="1920240"/>
            <a:ext cx="82296" cy="2560320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11696" y="2103120"/>
            <a:ext cx="2148839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6243E"/>
                </a:solidFill>
                <a:latin typeface="Aptos Display"/>
              </a:defRPr>
            </a:pPr>
            <a:r>
              <a:t>Системное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Продукт целиком</a:t>
            </a:r>
          </a:p>
        </p:txBody>
      </p:sp>
      <p:sp>
        <p:nvSpPr>
          <p:cNvPr id="20" name="Oval 19"/>
          <p:cNvSpPr/>
          <p:nvPr/>
        </p:nvSpPr>
        <p:spPr>
          <a:xfrm>
            <a:off x="7351775" y="1353312"/>
            <a:ext cx="822960" cy="822960"/>
          </a:xfrm>
          <a:prstGeom prst="ellipse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51775" y="1472184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1920240"/>
            <a:ext cx="256032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336024" y="1920240"/>
            <a:ext cx="82296" cy="256032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64624" y="2103120"/>
            <a:ext cx="2148839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6243E"/>
                </a:solidFill>
                <a:latin typeface="Aptos Display"/>
              </a:defRPr>
            </a:pPr>
            <a:r>
              <a:t>Приёмочное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Соответствие ожиданиям заказчика</a:t>
            </a:r>
          </a:p>
        </p:txBody>
      </p:sp>
      <p:sp>
        <p:nvSpPr>
          <p:cNvPr id="25" name="Oval 24"/>
          <p:cNvSpPr/>
          <p:nvPr/>
        </p:nvSpPr>
        <p:spPr>
          <a:xfrm>
            <a:off x="10204703" y="1353312"/>
            <a:ext cx="822960" cy="822960"/>
          </a:xfrm>
          <a:prstGeom prst="ellipse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204703" y="1472184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983480"/>
            <a:ext cx="96926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234440" y="4983480"/>
            <a:ext cx="82296" cy="822960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463040" y="5166360"/>
            <a:ext cx="928116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243E"/>
                </a:solidFill>
                <a:latin typeface="Aptos Display"/>
              </a:defRPr>
            </a:pPr>
            <a:r>
              <a:t>По способу выполнения</a:t>
            </a:r>
          </a:p>
          <a:p>
            <a:pPr>
              <a:spcAft>
                <a:spcPts val="0"/>
              </a:spcAft>
              <a:defRPr sz="1200">
                <a:solidFill>
                  <a:srgbClr val="26303E"/>
                </a:solidFill>
                <a:latin typeface="Aptos"/>
              </a:defRPr>
            </a:pPr>
            <a:r>
              <a:t>Ручное тестирование выполняет специалист; автоматизированное — тестовые скрипты и инструменты.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Стандарты качества ПО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РАЗДЕЛ 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120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600200"/>
            <a:ext cx="82296" cy="182880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783080"/>
            <a:ext cx="48006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6243E"/>
                </a:solidFill>
                <a:latin typeface="Aptos Display"/>
              </a:defRPr>
            </a:pPr>
            <a:r>
              <a:t>ГОСТ Р 56920-2024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Общие положения тестирования программного обеспечения: цели, принципы, планирование и документирование проверок.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00200"/>
            <a:ext cx="52120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82296" cy="1828800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8006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6243E"/>
                </a:solidFill>
                <a:latin typeface="Aptos Display"/>
              </a:defRPr>
            </a:pPr>
            <a:r>
              <a:t>Серия ISO/IEC 25000 (SQuaRE)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Подходы к требованиям, измерению и оценке качества программных продуктов.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86200"/>
            <a:ext cx="10241280" cy="1645920"/>
          </a:xfrm>
          <a:prstGeom prst="rect">
            <a:avLst/>
          </a:prstGeom>
          <a:noFill/>
        </p:spPr>
        <p:txBody>
          <a:bodyPr wrap="square" lIns="73152" tIns="54864" rIns="73152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26303E"/>
                </a:solidFill>
                <a:latin typeface="Aptos"/>
              </a:defRPr>
            </a:pPr>
            <a:r>
              <a:t>Стандарты помогают унифицировать процессы и критерии оценки.</a:t>
            </a:r>
          </a:p>
          <a:p>
            <a:pPr>
              <a:spcAft>
                <a:spcPts val="1200"/>
              </a:spcAft>
              <a:defRPr sz="1900">
                <a:solidFill>
                  <a:srgbClr val="26303E"/>
                </a:solidFill>
                <a:latin typeface="Aptos"/>
              </a:defRPr>
            </a:pPr>
            <a:r>
              <a:t>Они не заменяют тестирование, а задают понятные правила его организации.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Ключевые характеристики качества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РАЗДЕЛ 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17320"/>
            <a:ext cx="52120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417320"/>
            <a:ext cx="82296" cy="91440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600200"/>
            <a:ext cx="48006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243E"/>
                </a:solidFill>
                <a:latin typeface="Aptos Display"/>
              </a:defRPr>
            </a:pPr>
            <a:r>
              <a:t>Функциональность</a:t>
            </a:r>
          </a:p>
          <a:p>
            <a:pPr>
              <a:spcAft>
                <a:spcPts val="0"/>
              </a:spcAft>
              <a:defRPr sz="1100">
                <a:solidFill>
                  <a:srgbClr val="26303E"/>
                </a:solidFill>
                <a:latin typeface="Aptos"/>
              </a:defRPr>
            </a:pPr>
            <a:r>
              <a:t>Выполняет нужные функции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417320"/>
            <a:ext cx="52120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59" y="1417320"/>
            <a:ext cx="82296" cy="91440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59" y="1600200"/>
            <a:ext cx="48006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243E"/>
                </a:solidFill>
                <a:latin typeface="Aptos Display"/>
              </a:defRPr>
            </a:pPr>
            <a:r>
              <a:t>Производительность</a:t>
            </a:r>
          </a:p>
          <a:p>
            <a:pPr>
              <a:spcAft>
                <a:spcPts val="0"/>
              </a:spcAft>
              <a:defRPr sz="1100">
                <a:solidFill>
                  <a:srgbClr val="26303E"/>
                </a:solidFill>
                <a:latin typeface="Aptos"/>
              </a:defRPr>
            </a:pPr>
            <a:r>
              <a:t>Работает эффективно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60320"/>
            <a:ext cx="52120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2560320"/>
            <a:ext cx="82296" cy="914400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743200"/>
            <a:ext cx="48006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243E"/>
                </a:solidFill>
                <a:latin typeface="Aptos Display"/>
              </a:defRPr>
            </a:pPr>
            <a:r>
              <a:t>Совместимость</a:t>
            </a:r>
          </a:p>
          <a:p>
            <a:pPr>
              <a:spcAft>
                <a:spcPts val="0"/>
              </a:spcAft>
              <a:defRPr sz="1100">
                <a:solidFill>
                  <a:srgbClr val="26303E"/>
                </a:solidFill>
                <a:latin typeface="Aptos"/>
              </a:defRPr>
            </a:pPr>
            <a:r>
              <a:t>Взаимодействует с другими системами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2560320"/>
            <a:ext cx="52120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59" y="2560320"/>
            <a:ext cx="82296" cy="914400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59" y="2743200"/>
            <a:ext cx="48006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243E"/>
                </a:solidFill>
                <a:latin typeface="Aptos Display"/>
              </a:defRPr>
            </a:pPr>
            <a:r>
              <a:t>Удобство</a:t>
            </a:r>
          </a:p>
          <a:p>
            <a:pPr>
              <a:spcAft>
                <a:spcPts val="0"/>
              </a:spcAft>
              <a:defRPr sz="1100">
                <a:solidFill>
                  <a:srgbClr val="26303E"/>
                </a:solidFill>
                <a:latin typeface="Aptos"/>
              </a:defRPr>
            </a:pPr>
            <a:r>
              <a:t>Понятна пользователю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03320"/>
            <a:ext cx="52120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3703320"/>
            <a:ext cx="82296" cy="914400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886200"/>
            <a:ext cx="48006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243E"/>
                </a:solidFill>
                <a:latin typeface="Aptos Display"/>
              </a:defRPr>
            </a:pPr>
            <a:r>
              <a:t>Надёжность</a:t>
            </a:r>
          </a:p>
          <a:p>
            <a:pPr>
              <a:spcAft>
                <a:spcPts val="0"/>
              </a:spcAft>
              <a:defRPr sz="1100">
                <a:solidFill>
                  <a:srgbClr val="26303E"/>
                </a:solidFill>
                <a:latin typeface="Aptos"/>
              </a:defRPr>
            </a:pPr>
            <a:r>
              <a:t>Стабильна в заданных условиях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59" y="3703320"/>
            <a:ext cx="52120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59" y="3703320"/>
            <a:ext cx="82296" cy="914400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3886200"/>
            <a:ext cx="48006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243E"/>
                </a:solidFill>
                <a:latin typeface="Aptos Display"/>
              </a:defRPr>
            </a:pPr>
            <a:r>
              <a:t>Безопасность</a:t>
            </a:r>
          </a:p>
          <a:p>
            <a:pPr>
              <a:spcAft>
                <a:spcPts val="0"/>
              </a:spcAft>
              <a:defRPr sz="1100">
                <a:solidFill>
                  <a:srgbClr val="26303E"/>
                </a:solidFill>
                <a:latin typeface="Aptos"/>
              </a:defRPr>
            </a:pPr>
            <a:r>
              <a:t>Защищает данные и доступ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46320"/>
            <a:ext cx="52120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77240" y="4846320"/>
            <a:ext cx="82296" cy="91440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5029200"/>
            <a:ext cx="48006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243E"/>
                </a:solidFill>
                <a:latin typeface="Aptos Display"/>
              </a:defRPr>
            </a:pPr>
            <a:r>
              <a:t>Сопровождаемость</a:t>
            </a:r>
          </a:p>
          <a:p>
            <a:pPr>
              <a:spcAft>
                <a:spcPts val="0"/>
              </a:spcAft>
              <a:defRPr sz="1100">
                <a:solidFill>
                  <a:srgbClr val="26303E"/>
                </a:solidFill>
                <a:latin typeface="Aptos"/>
              </a:defRPr>
            </a:pPr>
            <a:r>
              <a:t>Удобна для исправления и развития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59" y="4846320"/>
            <a:ext cx="52120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09359" y="4846320"/>
            <a:ext cx="82296" cy="91440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37959" y="5029200"/>
            <a:ext cx="48006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243E"/>
                </a:solidFill>
                <a:latin typeface="Aptos Display"/>
              </a:defRPr>
            </a:pPr>
            <a:r>
              <a:t>Переносимость</a:t>
            </a:r>
          </a:p>
          <a:p>
            <a:pPr>
              <a:spcAft>
                <a:spcPts val="0"/>
              </a:spcAft>
              <a:defRPr sz="1100">
                <a:solidFill>
                  <a:srgbClr val="26303E"/>
                </a:solidFill>
                <a:latin typeface="Aptos"/>
              </a:defRPr>
            </a:pPr>
            <a:r>
              <a:t>Адаптируется к разным средам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Стандарты программной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РАЗДЕЛ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1732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417320"/>
            <a:ext cx="82296" cy="96012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600200"/>
            <a:ext cx="10241280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6243E"/>
                </a:solidFill>
                <a:latin typeface="Aptos Display"/>
              </a:defRPr>
            </a:pPr>
            <a:r>
              <a:t>ЕСПД</a:t>
            </a:r>
          </a:p>
          <a:p>
            <a:pPr>
              <a:spcAft>
                <a:spcPts val="0"/>
              </a:spcAft>
              <a:defRPr sz="1300">
                <a:solidFill>
                  <a:srgbClr val="26303E"/>
                </a:solidFill>
                <a:latin typeface="Aptos"/>
              </a:defRPr>
            </a:pPr>
            <a:r>
              <a:t>Единая система программной документации — комплекс стандартов, регулирующих состав, оформление и содержание документов.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2057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243E"/>
                </a:solidFill>
                <a:latin typeface="Aptos"/>
              </a:defRPr>
            </a:pPr>
            <a:r>
              <a:t>ГОСТ 19.101-77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651760"/>
            <a:ext cx="8138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03E"/>
                </a:solidFill>
                <a:latin typeface="Aptos"/>
              </a:defRPr>
            </a:pPr>
            <a:r>
              <a:t>Виды программ и программных документов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73552"/>
            <a:ext cx="2057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243E"/>
                </a:solidFill>
                <a:latin typeface="Aptos"/>
              </a:defRPr>
            </a:pPr>
            <a:r>
              <a:t>ГОСТ 19.102-77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273552"/>
            <a:ext cx="8138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03E"/>
                </a:solidFill>
                <a:latin typeface="Aptos"/>
              </a:defRPr>
            </a:pPr>
            <a:r>
              <a:t>Стадии разработки программ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95344"/>
            <a:ext cx="2057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243E"/>
                </a:solidFill>
                <a:latin typeface="Aptos"/>
              </a:defRPr>
            </a:pPr>
            <a:r>
              <a:t>ГОСТ 19.103-77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895344"/>
            <a:ext cx="8138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03E"/>
                </a:solidFill>
                <a:latin typeface="Aptos"/>
              </a:defRPr>
            </a:pPr>
            <a:r>
              <a:t>Обозначение программ и документов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17136"/>
            <a:ext cx="2057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243E"/>
                </a:solidFill>
                <a:latin typeface="Aptos"/>
              </a:defRPr>
            </a:pPr>
            <a:r>
              <a:t>ГОСТ 19.105-78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4517136"/>
            <a:ext cx="8138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03E"/>
                </a:solidFill>
                <a:latin typeface="Aptos"/>
              </a:defRPr>
            </a:pPr>
            <a:r>
              <a:t>Общие требования к программным документам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38928"/>
            <a:ext cx="2057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243E"/>
                </a:solidFill>
                <a:latin typeface="Aptos"/>
              </a:defRPr>
            </a:pPr>
            <a:r>
              <a:t>ГОСТ 19.201-78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5138928"/>
            <a:ext cx="8138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03E"/>
                </a:solidFill>
                <a:latin typeface="Aptos"/>
              </a:defRPr>
            </a:pPr>
            <a:r>
              <a:t>Требования к техническому заданию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Признаки качественной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РАЗДЕЛ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737360"/>
            <a:ext cx="82296" cy="155448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3063239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6243E"/>
                </a:solidFill>
                <a:latin typeface="Aptos Display"/>
              </a:defRPr>
            </a:pPr>
            <a:r>
              <a:t>Полнота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Есть вся необходимая информация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8848" y="173736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98848" y="1737360"/>
            <a:ext cx="82296" cy="1554480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27448" y="1920240"/>
            <a:ext cx="3063239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6243E"/>
                </a:solidFill>
                <a:latin typeface="Aptos Display"/>
              </a:defRPr>
            </a:pPr>
            <a:r>
              <a:t>Точность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Описание соответствует программе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66176" y="173736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66176" y="1737360"/>
            <a:ext cx="82296" cy="1554480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94776" y="1920240"/>
            <a:ext cx="3063239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6243E"/>
                </a:solidFill>
                <a:latin typeface="Aptos Display"/>
              </a:defRPr>
            </a:pPr>
            <a:r>
              <a:t>Понятность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Формулировки ясны и однозначны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70332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703320"/>
            <a:ext cx="82296" cy="155448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886200"/>
            <a:ext cx="3063239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6243E"/>
                </a:solidFill>
                <a:latin typeface="Aptos Display"/>
              </a:defRPr>
            </a:pPr>
            <a:r>
              <a:t>Согласованность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Документы не противоречат друг другу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370332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98848" y="3703320"/>
            <a:ext cx="82296" cy="1554480"/>
          </a:xfrm>
          <a:prstGeom prst="rect">
            <a:avLst/>
          </a:prstGeom>
          <a:solidFill>
            <a:srgbClr val="306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27448" y="3886200"/>
            <a:ext cx="3063239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6243E"/>
                </a:solidFill>
                <a:latin typeface="Aptos Display"/>
              </a:defRPr>
            </a:pPr>
            <a:r>
              <a:t>Актуальность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Сведения обновляются после изменений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6" y="370332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66176" y="3703320"/>
            <a:ext cx="82296" cy="1554480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94776" y="3886200"/>
            <a:ext cx="3063239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6243E"/>
                </a:solidFill>
                <a:latin typeface="Aptos Display"/>
              </a:defRPr>
            </a:pPr>
            <a:r>
              <a:t>Структура</a:t>
            </a:r>
          </a:p>
          <a:p>
            <a:pPr>
              <a:spcAft>
                <a:spcPts val="0"/>
              </a:spcAft>
              <a:defRPr sz="1400">
                <a:solidFill>
                  <a:srgbClr val="26303E"/>
                </a:solidFill>
                <a:latin typeface="Aptos"/>
              </a:defRPr>
            </a:pPr>
            <a:r>
              <a:t>Информацию легко найти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5577840"/>
            <a:ext cx="996696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097280" y="5577840"/>
            <a:ext cx="82296" cy="502920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325880" y="5760720"/>
            <a:ext cx="955548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6243E"/>
                </a:solidFill>
                <a:latin typeface="Aptos Display"/>
              </a:defRPr>
            </a:pPr>
            <a:r>
              <a:t>Документацию тоже тестируют</a:t>
            </a:r>
          </a:p>
          <a:p>
            <a:pPr>
              <a:spcAft>
                <a:spcPts val="0"/>
              </a:spcAft>
              <a:defRPr sz="1000">
                <a:solidFill>
                  <a:srgbClr val="26303E"/>
                </a:solidFill>
                <a:latin typeface="Aptos"/>
              </a:defRPr>
            </a:pPr>
            <a:r>
              <a:t>Ищут ошибки, пропущенные шаги, устаревшие сведения и расхождения с программой.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6243E"/>
                </a:solidFill>
                <a:latin typeface="Aptos Display"/>
              </a:defRPr>
            </a:pPr>
            <a: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B91"/>
                </a:solidFill>
                <a:latin typeface="Aptos"/>
              </a:defRPr>
            </a:pPr>
            <a: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27080" cy="13716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510528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C7C"/>
                </a:solidFill>
                <a:latin typeface="Aptos"/>
              </a:defRPr>
            </a:pPr>
            <a:r>
              <a:t>Тестирование ПО • Качество программной документации</a:t>
            </a:r>
          </a:p>
          <a:p>
            <a:pPr algn="r">
              <a:defRPr sz="800">
                <a:solidFill>
                  <a:srgbClr val="606C7C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10607040" cy="4480560"/>
          </a:xfrm>
          <a:prstGeom prst="rect">
            <a:avLst/>
          </a:prstGeom>
          <a:noFill/>
        </p:spPr>
        <p:txBody>
          <a:bodyPr wrap="square" lIns="73152" tIns="54864" rIns="73152">
            <a:spAutoFit/>
          </a:bodyPr>
          <a:lstStyle/>
          <a:p>
            <a:pPr>
              <a:spcAft>
                <a:spcPts val="1700"/>
              </a:spcAft>
              <a:defRPr sz="2100">
                <a:solidFill>
                  <a:srgbClr val="26303E"/>
                </a:solidFill>
                <a:latin typeface="Aptos"/>
              </a:defRPr>
            </a:pPr>
            <a:r>
              <a:t>Тестирование помогает находить дефекты и оценивать соответствие требованиям.</a:t>
            </a:r>
          </a:p>
          <a:p>
            <a:pPr>
              <a:spcAft>
                <a:spcPts val="1700"/>
              </a:spcAft>
              <a:defRPr sz="2100">
                <a:solidFill>
                  <a:srgbClr val="26303E"/>
                </a:solidFill>
                <a:latin typeface="Aptos"/>
              </a:defRPr>
            </a:pPr>
            <a:r>
              <a:t>Разные виды и уровни проверок дополняют друг друга.</a:t>
            </a:r>
          </a:p>
          <a:p>
            <a:pPr>
              <a:spcAft>
                <a:spcPts val="1700"/>
              </a:spcAft>
              <a:defRPr sz="2100">
                <a:solidFill>
                  <a:srgbClr val="26303E"/>
                </a:solidFill>
                <a:latin typeface="Aptos"/>
              </a:defRPr>
            </a:pPr>
            <a:r>
              <a:t>Стандарты задают единые правила контроля качества и оформления документации.</a:t>
            </a:r>
          </a:p>
          <a:p>
            <a:pPr>
              <a:spcAft>
                <a:spcPts val="1700"/>
              </a:spcAft>
              <a:defRPr sz="2100">
                <a:solidFill>
                  <a:srgbClr val="26303E"/>
                </a:solidFill>
                <a:latin typeface="Aptos"/>
              </a:defRPr>
            </a:pPr>
            <a:r>
              <a:t>Надёжный продукт — это проверенный код и точные, актуальные документы.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5257800"/>
            <a:ext cx="100584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05840" y="5257800"/>
            <a:ext cx="82296" cy="731520"/>
          </a:xfrm>
          <a:prstGeom prst="rect">
            <a:avLst/>
          </a:prstGeom>
          <a:solidFill>
            <a:srgbClr val="F2B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34440" y="5440680"/>
            <a:ext cx="96469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6243E"/>
                </a:solidFill>
                <a:latin typeface="Aptos Display"/>
              </a:defRPr>
            </a:pPr>
            <a:r>
              <a:t>Главный вывод</a:t>
            </a:r>
          </a:p>
          <a:p>
            <a:pPr>
              <a:spcAft>
                <a:spcPts val="0"/>
              </a:spcAft>
              <a:defRPr sz="1200">
                <a:solidFill>
                  <a:srgbClr val="26303E"/>
                </a:solidFill>
                <a:latin typeface="Aptos"/>
              </a:defRPr>
            </a:pPr>
            <a:r>
              <a:t>Качество создаётся на всех этапах разработки, а не только перед выпуском программы.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693</Words>
  <Application>Microsoft Office PowerPoint</Application>
  <PresentationFormat>Широкоэкранный</PresentationFormat>
  <Paragraphs>160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Артём Романович</cp:lastModifiedBy>
  <cp:revision>2</cp:revision>
  <dcterms:created xsi:type="dcterms:W3CDTF">2013-01-27T09:14:16Z</dcterms:created>
  <dcterms:modified xsi:type="dcterms:W3CDTF">2026-10-11T13:30:40Z</dcterms:modified>
  <cp:category/>
</cp:coreProperties>
</file>