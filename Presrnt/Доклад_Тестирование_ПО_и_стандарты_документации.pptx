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822960"/>
            <a:ext cx="2103120" cy="2103120"/>
          </a:xfrm>
          <a:prstGeom prst="ellipse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743200"/>
            <a:ext cx="1325880" cy="132588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4114800"/>
            <a:ext cx="914400" cy="914400"/>
          </a:xfrm>
          <a:prstGeom prst="ellipse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21040" y="1600200"/>
            <a:ext cx="256032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8512" y="192024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9B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2029968"/>
            <a:ext cx="1051560" cy="109728"/>
          </a:xfrm>
          <a:prstGeom prst="roundRect">
            <a:avLst/>
          </a:prstGeom>
          <a:solidFill>
            <a:srgbClr val="CF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68512" y="267004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9B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779776"/>
            <a:ext cx="1051560" cy="109728"/>
          </a:xfrm>
          <a:prstGeom prst="roundRect">
            <a:avLst/>
          </a:prstGeom>
          <a:solidFill>
            <a:srgbClr val="CF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68512" y="3419856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9B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529584"/>
            <a:ext cx="1051560" cy="109728"/>
          </a:xfrm>
          <a:prstGeom prst="roundRect">
            <a:avLst/>
          </a:prstGeom>
          <a:solidFill>
            <a:srgbClr val="CF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0972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ТЕСТИРОВАНИЕ</a:t>
            </a:r>
            <a:br/>
            <a:r>
              <a:t>ПРОГРАММНОГО ОБЕСПЕЧЕНИЯ</a:t>
            </a:r>
          </a:p>
          <a:p>
            <a:pPr>
              <a:spcAft>
                <a:spcPts val="2200"/>
              </a:spcAft>
              <a:defRPr sz="1900">
                <a:solidFill>
                  <a:srgbClr val="D0DCEC"/>
                </a:solidFill>
                <a:latin typeface="Aptos"/>
              </a:defRPr>
            </a:pPr>
            <a:r>
              <a:t>Цели, задачи, виды и стандарты качества программной документации</a:t>
            </a:r>
          </a:p>
          <a:p>
            <a:pPr>
              <a:defRPr sz="1300">
                <a:solidFill>
                  <a:srgbClr val="F2B543"/>
                </a:solidFill>
                <a:latin typeface="Aptos"/>
              </a:defRPr>
            </a:pPr>
            <a:r>
              <a:t>Доклад-презентация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71500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0DCEC"/>
                </a:solidFill>
                <a:latin typeface="Aptos"/>
              </a:defRPr>
            </a:pPr>
            <a:r>
              <a:t>Выполнил(а): ____________________     Группа: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Зачем нужно тестирование?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ВВЕДЕНИЕ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tIns="54864" rIns="73152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Программное обеспечение используется в самых разных сферах жизни.</a:t>
            </a:r>
          </a:p>
          <a:p>
            <a:pPr>
              <a:spcAft>
                <a:spcPts val="20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Даже небольшая ошибка может привести к сбою, потере данных или неудобству для пользователя.</a:t>
            </a:r>
          </a:p>
          <a:p>
            <a:pPr>
              <a:spcAft>
                <a:spcPts val="20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Тестирование помогает оценить качество программы до её выпуска и во время сопровождения.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377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4937760"/>
            <a:ext cx="82296" cy="91440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120640"/>
            <a:ext cx="9829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Главная мысль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Качество — это не только работающий код, но и проверенный продукт с понятной документацией.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Цели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82296" cy="15087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800600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Выявление дефектов</a:t>
            </a:r>
          </a:p>
          <a:p>
            <a:pPr>
              <a:spcAft>
                <a:spcPts val="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Найти ошибки до того, как они повлияют на пользователя.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82296" cy="150876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800600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Проверка требований</a:t>
            </a:r>
          </a:p>
          <a:p>
            <a:pPr>
              <a:spcAft>
                <a:spcPts val="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Убедиться, что программа выполняет заявленные функции.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82296" cy="150876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4800600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Снижение рисков</a:t>
            </a:r>
          </a:p>
          <a:p>
            <a:pPr>
              <a:spcAft>
                <a:spcPts val="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Сократить вероятность сбоев, потери данных и проблем безопасности.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290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429000"/>
            <a:ext cx="82296" cy="15087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4800600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Оценка качества</a:t>
            </a:r>
          </a:p>
          <a:p>
            <a:pPr>
              <a:spcAft>
                <a:spcPts val="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Получить данные о надёжности, производительности и удобстве.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Основные задачи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82296" cy="1170432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91639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1. Изучить требования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Понять, как программа должна работать.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508760"/>
            <a:ext cx="82296" cy="1170432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691639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2. Подготовить проверки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Создать тестовые сценарии и данные.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990088"/>
            <a:ext cx="82296" cy="1170432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172968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3. Выполнить тесты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Проверить функции и взаимодействие компонентов.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990088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2990088"/>
            <a:ext cx="82296" cy="1170432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3172968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4. Зарегистрировать дефекты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Описать шаги воспроизведения и ожидаемый результат.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71416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471416"/>
            <a:ext cx="82296" cy="1170432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654296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5. Проверить исправления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Повторно протестировать исправленный участок.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471416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59" y="4471416"/>
            <a:ext cx="82296" cy="1170432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4654296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6. Подвести итоги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Подготовить отчёт о результатах и рисках.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Виды тестирования по цели проверки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82296" cy="34747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8006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243E"/>
                </a:solidFill>
                <a:latin typeface="Aptos Display"/>
              </a:defRPr>
            </a:pPr>
            <a:r>
              <a:t>Функциональное</a:t>
            </a:r>
          </a:p>
          <a:p>
            <a:pPr>
              <a:spcAft>
                <a:spcPts val="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Проверяет, ЧТО делает программа.</a:t>
            </a:r>
            <a:br/>
            <a:br/>
            <a:r>
              <a:t>Пример: правильный логин и пароль открывают доступ к аккаунту.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82296" cy="347472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8006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243E"/>
                </a:solidFill>
                <a:latin typeface="Aptos Display"/>
              </a:defRPr>
            </a:pPr>
            <a:r>
              <a:t>Нефункциональное</a:t>
            </a:r>
          </a:p>
          <a:p>
            <a:pPr>
              <a:spcAft>
                <a:spcPts val="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Проверяет, КАК программа работает.</a:t>
            </a:r>
            <a:br/>
            <a:br/>
            <a:r>
              <a:t>Примеры: скорость, безопасность, удобство и совместимость.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394960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5394960"/>
            <a:ext cx="82296" cy="658368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94640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Также важно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Регрессионное тестирование проверяет, не сломали ли изменения старые функции.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Другие важные виды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82296" cy="16459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31089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Производительности</a:t>
            </a:r>
          </a:p>
          <a:p>
            <a:pPr>
              <a:spcAft>
                <a:spcPts val="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Измеряет скорость и устойчивость под нагрузкой.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82296" cy="164592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1089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Безопасности</a:t>
            </a:r>
          </a:p>
          <a:p>
            <a:pPr>
              <a:spcAft>
                <a:spcPts val="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Ищет уязвимости и риски несанкционированного доступа.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554480"/>
            <a:ext cx="82296" cy="164592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737360"/>
            <a:ext cx="31089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Удобства</a:t>
            </a:r>
          </a:p>
          <a:p>
            <a:pPr>
              <a:spcAft>
                <a:spcPts val="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Проверяет понятность интерфейса и действий пользователя.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82296" cy="160020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749039"/>
            <a:ext cx="480060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Повторное тестирование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Проверяет, что конкретный найденный дефект исправлен.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661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82296" cy="16002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749039"/>
            <a:ext cx="480060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Регрессионное тестирование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Проверяет, что изменения не нарушили прежние функции.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Уровни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82296" cy="25603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148839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Модульное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Отдельная функция или компонент</a:t>
            </a:r>
          </a:p>
        </p:txBody>
      </p:sp>
      <p:sp>
        <p:nvSpPr>
          <p:cNvPr id="10" name="Oval 9"/>
          <p:cNvSpPr/>
          <p:nvPr/>
        </p:nvSpPr>
        <p:spPr>
          <a:xfrm>
            <a:off x="1645919" y="1353312"/>
            <a:ext cx="822960" cy="82296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19" y="14721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0168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30168" y="1920240"/>
            <a:ext cx="82296" cy="256032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58768" y="2103120"/>
            <a:ext cx="2148839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Интеграционное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Связи между компонентами</a:t>
            </a:r>
          </a:p>
        </p:txBody>
      </p:sp>
      <p:sp>
        <p:nvSpPr>
          <p:cNvPr id="15" name="Oval 14"/>
          <p:cNvSpPr/>
          <p:nvPr/>
        </p:nvSpPr>
        <p:spPr>
          <a:xfrm>
            <a:off x="4498848" y="1353312"/>
            <a:ext cx="822960" cy="822960"/>
          </a:xfrm>
          <a:prstGeom prst="ellipse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14721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3096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83096" y="1920240"/>
            <a:ext cx="82296" cy="256032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11696" y="2103120"/>
            <a:ext cx="2148839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Системное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Продукт целиком</a:t>
            </a:r>
          </a:p>
        </p:txBody>
      </p:sp>
      <p:sp>
        <p:nvSpPr>
          <p:cNvPr id="20" name="Oval 19"/>
          <p:cNvSpPr/>
          <p:nvPr/>
        </p:nvSpPr>
        <p:spPr>
          <a:xfrm>
            <a:off x="7351775" y="1353312"/>
            <a:ext cx="822960" cy="822960"/>
          </a:xfrm>
          <a:prstGeom prst="ellipse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51775" y="14721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6024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36024" y="1920240"/>
            <a:ext cx="82296" cy="25603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64624" y="2103120"/>
            <a:ext cx="2148839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Приёмочное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Соответствие ожиданиям заказчика</a:t>
            </a:r>
          </a:p>
        </p:txBody>
      </p:sp>
      <p:sp>
        <p:nvSpPr>
          <p:cNvPr id="25" name="Oval 24"/>
          <p:cNvSpPr/>
          <p:nvPr/>
        </p:nvSpPr>
        <p:spPr>
          <a:xfrm>
            <a:off x="10204703" y="1353312"/>
            <a:ext cx="822960" cy="82296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04703" y="14721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4983480"/>
            <a:ext cx="9692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34440" y="4983480"/>
            <a:ext cx="82296" cy="82296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63040" y="5166360"/>
            <a:ext cx="92811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По способу выполнения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Ручное тестирование выполняет специалист; автоматизированное — тестовые скрипты и инструменты.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Стандарты качества 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82296" cy="18288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48006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ГОСТ Р 56920-2024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Общие положения тестирования программного обеспечения: цели, принципы, планирование и документирование проверок.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82296" cy="182880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8006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Серия ISO/IEC 25000 (SQuaRE)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Подходы к требованиям, измерению и оценке качества программных продуктов.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241280" cy="1645920"/>
          </a:xfrm>
          <a:prstGeom prst="rect">
            <a:avLst/>
          </a:prstGeom>
          <a:noFill/>
        </p:spPr>
        <p:txBody>
          <a:bodyPr wrap="square" lIns="73152" tIns="54864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Стандарты помогают унифицировать процессы и критерии оценки.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Они не заменяют тестирование, а задают понятные правила его организации.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Ключевые характеристики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82296" cy="914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Функциональность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Выполняет нужные функции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417320"/>
            <a:ext cx="82296" cy="914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600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Производительность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Работает эффективно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60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560320"/>
            <a:ext cx="82296" cy="91440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Совместимость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Взаимодействует с другими системами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560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2560320"/>
            <a:ext cx="82296" cy="91440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2743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Удобство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Понятна пользователю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03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703320"/>
            <a:ext cx="82296" cy="91440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886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Надёжность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Стабильна в заданных условиях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703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59" y="3703320"/>
            <a:ext cx="82296" cy="91440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3886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Безопасность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Защищает данные и доступ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46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846320"/>
            <a:ext cx="82296" cy="914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Сопровождаемость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Удобна для исправления и развития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846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59" y="4846320"/>
            <a:ext cx="82296" cy="914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59" y="5029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Переносимость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Адаптируется к разным средам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Стандарты программной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82296" cy="9601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1024128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ЕСПД</a:t>
            </a:r>
          </a:p>
          <a:p>
            <a:pPr>
              <a:spcAft>
                <a:spcPts val="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Единая система программной документации — комплекс стандартов, регулирующих состав, оформление и содержание документов.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19.101-77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5176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Виды программ и программных документов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19.102-77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73552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Стадии разработки программ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95344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19.103-77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895344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Обозначение программ и документов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171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19.105-78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517136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Общие требования к программным документам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19.201-78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138928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Требования к техническому заданию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Признаки качественной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82296" cy="155448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Полнота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Есть вся необходимая информация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7373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98848" y="1737360"/>
            <a:ext cx="82296" cy="155448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92024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Точность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Описание соответствует программе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6" y="17373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66176" y="1737360"/>
            <a:ext cx="82296" cy="155448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94776" y="192024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Понятность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Формулировки ясны и однозначны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82296" cy="155448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Согласованность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Документы не противоречат друг другу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98848" y="3703320"/>
            <a:ext cx="82296" cy="155448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27448" y="388620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Актуальность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Сведения обновляются после изменений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6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66176" y="3703320"/>
            <a:ext cx="82296" cy="155448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94776" y="388620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Структура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Информацию легко найти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577840"/>
            <a:ext cx="9966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97280" y="5577840"/>
            <a:ext cx="82296" cy="5029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5760720"/>
            <a:ext cx="9555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243E"/>
                </a:solidFill>
                <a:latin typeface="Aptos Display"/>
              </a:defRPr>
            </a:pPr>
            <a:r>
              <a:t>Документацию тоже тестируют</a:t>
            </a:r>
          </a:p>
          <a:p>
            <a:pPr>
              <a:spcAft>
                <a:spcPts val="0"/>
              </a:spcAft>
              <a:defRPr sz="1000">
                <a:solidFill>
                  <a:srgbClr val="26303E"/>
                </a:solidFill>
                <a:latin typeface="Aptos"/>
              </a:defRPr>
            </a:pPr>
            <a:r>
              <a:t>Ищут ошибки, пропущенные шаги, устаревшие сведения и расхождения с программой.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tIns="54864" rIns="73152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Тестирование помогает находить дефекты и оценивать соответствие требованиям.</a:t>
            </a:r>
          </a:p>
          <a:p>
            <a:pPr>
              <a:spcAft>
                <a:spcPts val="17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Разные виды и уровни проверок дополняют друг друга.</a:t>
            </a:r>
          </a:p>
          <a:p>
            <a:pPr>
              <a:spcAft>
                <a:spcPts val="17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Стандарты задают единые правила контроля качества и оформления документации.</a:t>
            </a:r>
          </a:p>
          <a:p>
            <a:pPr>
              <a:spcAft>
                <a:spcPts val="17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Надёжный продукт — это проверенный код и точные, актуальные документы.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57800"/>
            <a:ext cx="100584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5257800"/>
            <a:ext cx="82296" cy="73152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5440680"/>
            <a:ext cx="96469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Главный вывод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Качество создаётся на всех этапах разработки, а не только перед выпуском программы.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МАТЕРИАЛЫ ДЛЯ ПОДГОТОВКИ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515600" cy="4206240"/>
          </a:xfrm>
          <a:prstGeom prst="rect">
            <a:avLst/>
          </a:prstGeom>
          <a:noFill/>
        </p:spPr>
        <p:txBody>
          <a:bodyPr wrap="square" lIns="73152" tIns="54864" rIns="73152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Видео по теме: https://youtu.be/5-jZ9Da7h6Q</a:t>
            </a:r>
          </a:p>
          <a:p>
            <a:pPr>
              <a:spcAft>
                <a:spcPts val="18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ГОСТ Р 56920-2024 — общие положения тестирования ПО.</a:t>
            </a:r>
          </a:p>
          <a:p>
            <a:pPr>
              <a:spcAft>
                <a:spcPts val="18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Серия ISO/IEC 25000 (SQuaRE) — требования и оценка качества ПО.</a:t>
            </a:r>
          </a:p>
          <a:p>
            <a:pPr>
              <a:spcAft>
                <a:spcPts val="18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ГОСТ 19.101-77, ГОСТ 19.102-77, ГОСТ 19.103-77, ГОСТ 19.105-78, ГОСТ 19.201-78 — стандарты ЕСПД.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4068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5440680"/>
            <a:ext cx="82296" cy="5943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623560"/>
            <a:ext cx="9829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243E"/>
                </a:solidFill>
                <a:latin typeface="Aptos Display"/>
              </a:defRPr>
            </a:pPr>
            <a:r>
              <a:t>Перед сдачей</a:t>
            </a:r>
          </a:p>
          <a:p>
            <a:pPr>
              <a:spcAft>
                <a:spcPts val="0"/>
              </a:spcAft>
              <a:defRPr sz="1000">
                <a:solidFill>
                  <a:srgbClr val="26303E"/>
                </a:solidFill>
                <a:latin typeface="Aptos"/>
              </a:defRPr>
            </a:pPr>
            <a:r>
              <a:t>Добавьте на титульный слайд ФИО, группу и учебное заведение.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Артём Романович</cp:lastModifiedBy>
  <cp:revision>2</cp:revision>
  <dcterms:created xsi:type="dcterms:W3CDTF">2013-01-27T09:14:16Z</dcterms:created>
  <dcterms:modified xsi:type="dcterms:W3CDTF">2026-10-11T13:05:37Z</dcterms:modified>
  <cp:category/>
</cp:coreProperties>
</file>